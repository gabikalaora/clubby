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21945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630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200" b="1" i="0">
                <a:solidFill>
                  <a:srgbClr val="FFFFFF"/>
                </a:solidFill>
              </a:rPr>
              <a:t>ארנק הנאמנות שמחבר לקוחות ועסקים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8988552" y="3474720"/>
            <a:ext cx="29260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94A3B8"/>
                </a:solidFill>
              </a:rPr>
              <a:t>הצטרפות בסריקת QR אחת | ארנק דיגיטלי | ניתוח נתונים לרשתות ענק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2188952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94A3B8"/>
                </a:solidFill>
              </a:rPr>
              <a:t>📱 ארנק לקוח דיגיטלי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4754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94A3B8"/>
                </a:solidFill>
              </a:rPr>
              <a:t>🏪 פורטל ניהול לעסק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4754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94A3B8"/>
                </a:solidFill>
              </a:rPr>
              <a:t>📊 אנליטיקה לרשת קמעונאות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FFFFFF"/>
                </a:solidFill>
              </a:rPr>
              <a:t>🛍️ חוויית הלקוח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0">
                <a:solidFill>
                  <a:srgbClr val="FFFFFF"/>
                </a:solidFill>
              </a:rPr>
              <a:t>מהסריקה הראשונה ועד לפרס — חלק, מהיר, ומהנה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457200"/>
            <a:ext cx="3017520" cy="59436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33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-signin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6928"/>
            <a:ext cx="2798064" cy="57241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48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לקוח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E293B"/>
                </a:solidFill>
              </a:rPr>
              <a:t>1. גישה מהירה — ללא הורדה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2057400"/>
            <a:ext cx="29260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64748B"/>
                </a:solidFill>
              </a:rPr>
              <a:t>הלקוח נכנס לאפליקציה דרך הדפדפן בטלפון או מוריד אפליקציה. הרשמה תוך 30 שניות עם מספר טלפון בלבד.</a:t>
            </a:r>
          </a:p>
        </p:txBody>
      </p:sp>
      <p:sp>
        <p:nvSpPr>
          <p:cNvPr id="10" name="Oval 9"/>
          <p:cNvSpPr/>
          <p:nvPr/>
        </p:nvSpPr>
        <p:spPr>
          <a:xfrm>
            <a:off x="11686032" y="368503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🌐 app.clubby.com — ללא הורדה מחנות האפליקציות</a:t>
            </a:r>
          </a:p>
        </p:txBody>
      </p:sp>
      <p:sp>
        <p:nvSpPr>
          <p:cNvPr id="12" name="Oval 11"/>
          <p:cNvSpPr/>
          <p:nvPr/>
        </p:nvSpPr>
        <p:spPr>
          <a:xfrm>
            <a:off x="11686032" y="427939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📲 אפליקציה ל-iOS ו-Android</a:t>
            </a:r>
          </a:p>
        </p:txBody>
      </p:sp>
      <p:sp>
        <p:nvSpPr>
          <p:cNvPr id="14" name="Oval 13"/>
          <p:cNvSpPr/>
          <p:nvPr/>
        </p:nvSpPr>
        <p:spPr>
          <a:xfrm>
            <a:off x="11686032" y="487375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7548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📞 הרשמה עם מספר טלפון — ללא סיסמה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546811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924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⚡ מגישה לארנק פעיל תוך 30 שניות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457200"/>
            <a:ext cx="3017520" cy="59436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33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pizza-store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6928"/>
            <a:ext cx="2798064" cy="57241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48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לקוח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E293B"/>
                </a:solidFill>
              </a:rPr>
              <a:t>2. הצטרף בסריקת QR אחת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2057400"/>
            <a:ext cx="29260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64748B"/>
                </a:solidFill>
              </a:rPr>
              <a:t>קוד QR מוצג בחנות. הלקוח מכוון את מצלמת הטלפון — ומצטרף מיידית. ללא חיכוך, ללא טפסים.</a:t>
            </a:r>
          </a:p>
        </p:txBody>
      </p:sp>
      <p:sp>
        <p:nvSpPr>
          <p:cNvPr id="10" name="Oval 9"/>
          <p:cNvSpPr/>
          <p:nvPr/>
        </p:nvSpPr>
        <p:spPr>
          <a:xfrm>
            <a:off x="11686032" y="368503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📷 עובד עם מצלמת הטלפון הרגילה — ללא אפליקציית סריקה</a:t>
            </a:r>
          </a:p>
        </p:txBody>
      </p:sp>
      <p:sp>
        <p:nvSpPr>
          <p:cNvPr id="12" name="Oval 11"/>
          <p:cNvSpPr/>
          <p:nvPr/>
        </p:nvSpPr>
        <p:spPr>
          <a:xfrm>
            <a:off x="11686032" y="427939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🎁 הטבת ברוכים הבאים — אם בעל העסק הגדיר מבצע קבלת פנים</a:t>
            </a:r>
          </a:p>
        </p:txBody>
      </p:sp>
      <p:sp>
        <p:nvSpPr>
          <p:cNvPr id="14" name="Oval 13"/>
          <p:cNvSpPr/>
          <p:nvPr/>
        </p:nvSpPr>
        <p:spPr>
          <a:xfrm>
            <a:off x="11686032" y="487375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7548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🏢 כל סניף יכול לקבל קוד QR נפרד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546811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924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🔄 סריקה חוזרת בטוחה — ללא כפילויות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2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457200"/>
            <a:ext cx="3017520" cy="59436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33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wallet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6928"/>
            <a:ext cx="2798064" cy="57241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48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לקוח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E293B"/>
                </a:solidFill>
              </a:rPr>
              <a:t>3. ארנק — הכל במקום אחד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2057400"/>
            <a:ext cx="29260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64748B"/>
                </a:solidFill>
              </a:rPr>
              <a:t>המועדונים, החותמות, הנקודות, הדרגות, פיד המבצעים וההטבות הפעילות — ממשק יוקרתי ומהיר.</a:t>
            </a:r>
          </a:p>
        </p:txBody>
      </p:sp>
      <p:sp>
        <p:nvSpPr>
          <p:cNvPr id="10" name="Oval 9"/>
          <p:cNvSpPr/>
          <p:nvPr/>
        </p:nvSpPr>
        <p:spPr>
          <a:xfrm>
            <a:off x="11686032" y="368503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💰 יתרת קרדיט + היסטוריה בלחיצה</a:t>
            </a:r>
          </a:p>
        </p:txBody>
      </p:sp>
      <p:sp>
        <p:nvSpPr>
          <p:cNvPr id="12" name="Oval 11"/>
          <p:cNvSpPr/>
          <p:nvPr/>
        </p:nvSpPr>
        <p:spPr>
          <a:xfrm>
            <a:off x="11686032" y="427939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📣 פיד מבצעים בסגנון WhatsApp</a:t>
            </a:r>
          </a:p>
        </p:txBody>
      </p:sp>
      <p:sp>
        <p:nvSpPr>
          <p:cNvPr id="14" name="Oval 13"/>
          <p:cNvSpPr/>
          <p:nvPr/>
        </p:nvSpPr>
        <p:spPr>
          <a:xfrm>
            <a:off x="11686032" y="487375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7548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🥇 כרטיסיות חותמות + יתרת נקודות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546811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924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🥈 תג דרגה על כרטיס המועדון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3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457200"/>
            <a:ext cx="3017520" cy="59436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33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wallet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6928"/>
            <a:ext cx="2798064" cy="57241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48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לקוח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E293B"/>
                </a:solidFill>
              </a:rPr>
              <a:t>4. פיד מבצעים — בסגנון WhatsApp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2057400"/>
            <a:ext cx="29260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64748B"/>
                </a:solidFill>
              </a:rPr>
              <a:t>עסקים שולחים הכרזות ומבצעים שמופיעים ישירות בארנק הלקוח כפיד גולל — בזמן אמת.</a:t>
            </a:r>
          </a:p>
        </p:txBody>
      </p:sp>
      <p:sp>
        <p:nvSpPr>
          <p:cNvPr id="10" name="Oval 9"/>
          <p:cNvSpPr/>
          <p:nvPr/>
        </p:nvSpPr>
        <p:spPr>
          <a:xfrm>
            <a:off x="11686032" y="368503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📣 4 סוגי פוסטים: מבצע, הצעה, הכרזה, סטורי</a:t>
            </a:r>
          </a:p>
        </p:txBody>
      </p:sp>
      <p:sp>
        <p:nvSpPr>
          <p:cNvPr id="12" name="Oval 11"/>
          <p:cNvSpPr/>
          <p:nvPr/>
        </p:nvSpPr>
        <p:spPr>
          <a:xfrm>
            <a:off x="11686032" y="427939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🎨 תווית צבעונית לכל סוג</a:t>
            </a:r>
          </a:p>
        </p:txBody>
      </p:sp>
      <p:sp>
        <p:nvSpPr>
          <p:cNvPr id="14" name="Oval 13"/>
          <p:cNvSpPr/>
          <p:nvPr/>
        </p:nvSpPr>
        <p:spPr>
          <a:xfrm>
            <a:off x="11686032" y="487375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7548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🔘 כפתור CTA מפנה לפרופיל החנות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546811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924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⏰ פוסטים פגים אוטומטית בתאריך שנקבע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4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457200"/>
            <a:ext cx="3017520" cy="59436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33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discover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6928"/>
            <a:ext cx="2798064" cy="57241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48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לקוח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E293B"/>
                </a:solidFill>
              </a:rPr>
              <a:t>5. גלה עסקים — לפי מיקום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2057400"/>
            <a:ext cx="29260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64748B"/>
                </a:solidFill>
              </a:rPr>
              <a:t>עסקים ממוינים לפי מרחק GPS, סינון קטגוריה, 'פתוח עכשיו' וחיפוש חופשי.</a:t>
            </a:r>
          </a:p>
        </p:txBody>
      </p:sp>
      <p:sp>
        <p:nvSpPr>
          <p:cNvPr id="10" name="Oval 9"/>
          <p:cNvSpPr/>
          <p:nvPr/>
        </p:nvSpPr>
        <p:spPr>
          <a:xfrm>
            <a:off x="11686032" y="368503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📍 'קרוב אלי' — ממוין לפי מרחק</a:t>
            </a:r>
          </a:p>
        </p:txBody>
      </p:sp>
      <p:sp>
        <p:nvSpPr>
          <p:cNvPr id="12" name="Oval 11"/>
          <p:cNvSpPr/>
          <p:nvPr/>
        </p:nvSpPr>
        <p:spPr>
          <a:xfrm>
            <a:off x="11686032" y="427939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🟢 סינון 'פתוח עכשיו'</a:t>
            </a:r>
          </a:p>
        </p:txBody>
      </p:sp>
      <p:sp>
        <p:nvSpPr>
          <p:cNvPr id="14" name="Oval 13"/>
          <p:cNvSpPr/>
          <p:nvPr/>
        </p:nvSpPr>
        <p:spPr>
          <a:xfrm>
            <a:off x="11686032" y="487375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7548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🔍 חיפוש לפי שם או קטגוריה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546811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924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➕ הצטרף מיידית בלחיצה אחת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5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457200"/>
            <a:ext cx="3017520" cy="59436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33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supermarket-store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6928"/>
            <a:ext cx="2798064" cy="57241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48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לקוח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E293B"/>
                </a:solidFill>
              </a:rPr>
              <a:t>6. חותמות + נקודות + דרגות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2057400"/>
            <a:ext cx="29260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64748B"/>
                </a:solidFill>
              </a:rPr>
              <a:t>שלושה מנגנוני נאמנות מקבילים — כל אחד מוסיף שכבה של מוטיבציה לחזור.</a:t>
            </a:r>
          </a:p>
        </p:txBody>
      </p:sp>
      <p:sp>
        <p:nvSpPr>
          <p:cNvPr id="10" name="Oval 9"/>
          <p:cNvSpPr/>
          <p:nvPr/>
        </p:nvSpPr>
        <p:spPr>
          <a:xfrm>
            <a:off x="11686032" y="368503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🟢 כרטיסיית חותמות עם התקדמות בזמן אמת</a:t>
            </a:r>
          </a:p>
        </p:txBody>
      </p:sp>
      <p:sp>
        <p:nvSpPr>
          <p:cNvPr id="12" name="Oval 11"/>
          <p:cNvSpPr/>
          <p:nvPr/>
        </p:nvSpPr>
        <p:spPr>
          <a:xfrm>
            <a:off x="11686032" y="427939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⭐ נקודות שנצברות בכל סריקת QR</a:t>
            </a:r>
          </a:p>
        </p:txBody>
      </p:sp>
      <p:sp>
        <p:nvSpPr>
          <p:cNvPr id="14" name="Oval 13"/>
          <p:cNvSpPr/>
          <p:nvPr/>
        </p:nvSpPr>
        <p:spPr>
          <a:xfrm>
            <a:off x="11686032" y="487375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7548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🥈 תג דרגה (ברונזה/כסף/זהב) על הארנק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546811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924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🎁 פרס אוטומטי בהשלמת הכרטיסייה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6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457200"/>
            <a:ext cx="3017520" cy="59436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33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-notifications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6928"/>
            <a:ext cx="2798064" cy="57241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48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לקוח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E293B"/>
                </a:solidFill>
              </a:rPr>
              <a:t>7. מימוש הטבה — בלחיצה אחת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2057400"/>
            <a:ext cx="29260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64748B"/>
                </a:solidFill>
              </a:rPr>
              <a:t>לוחץ 'השתמש', מראה למוכר ולוחץ אשר. מסונכרן בזמן אמת עם פורטל העסק.</a:t>
            </a:r>
          </a:p>
        </p:txBody>
      </p:sp>
      <p:sp>
        <p:nvSpPr>
          <p:cNvPr id="10" name="Oval 9"/>
          <p:cNvSpPr/>
          <p:nvPr/>
        </p:nvSpPr>
        <p:spPr>
          <a:xfrm>
            <a:off x="11686032" y="368503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👁 הצג למוכר ולחץ אשר</a:t>
            </a:r>
          </a:p>
        </p:txBody>
      </p:sp>
      <p:sp>
        <p:nvSpPr>
          <p:cNvPr id="12" name="Oval 11"/>
          <p:cNvSpPr/>
          <p:nvPr/>
        </p:nvSpPr>
        <p:spPr>
          <a:xfrm>
            <a:off x="11686032" y="427939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✅ מסומן כמומש בשני הצדדים מיידית</a:t>
            </a:r>
          </a:p>
        </p:txBody>
      </p:sp>
      <p:sp>
        <p:nvSpPr>
          <p:cNvPr id="14" name="Oval 13"/>
          <p:cNvSpPr/>
          <p:nvPr/>
        </p:nvSpPr>
        <p:spPr>
          <a:xfrm>
            <a:off x="11686032" y="487375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7548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🔄 סנכרון בזמן אמת — WebSocket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546811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924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📋 מופיע בהיסטוריית ההטבות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7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457200"/>
            <a:ext cx="3017520" cy="59436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33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-profile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6928"/>
            <a:ext cx="2798064" cy="57241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48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לקוח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E293B"/>
                </a:solidFill>
              </a:rPr>
              <a:t>8. מצב כהה | עברית מלאה | RTL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8552" y="2057400"/>
            <a:ext cx="29260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64748B"/>
                </a:solidFill>
              </a:rPr>
              <a:t>ממשק מלא בעברית עם RTL, מצב כהה אוטומטי, ותמיכה ב-iOS, Android ו-Web.</a:t>
            </a:r>
          </a:p>
        </p:txBody>
      </p:sp>
      <p:sp>
        <p:nvSpPr>
          <p:cNvPr id="10" name="Oval 9"/>
          <p:cNvSpPr/>
          <p:nvPr/>
        </p:nvSpPr>
        <p:spPr>
          <a:xfrm>
            <a:off x="11686032" y="368503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🌙 מצב כהה: אוטומטי / בהיר / כהה</a:t>
            </a:r>
          </a:p>
        </p:txBody>
      </p:sp>
      <p:sp>
        <p:nvSpPr>
          <p:cNvPr id="12" name="Oval 11"/>
          <p:cNvSpPr/>
          <p:nvPr/>
        </p:nvSpPr>
        <p:spPr>
          <a:xfrm>
            <a:off x="11686032" y="427939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🌐 עברית מלאה עם פריסת RTL</a:t>
            </a:r>
          </a:p>
        </p:txBody>
      </p:sp>
      <p:sp>
        <p:nvSpPr>
          <p:cNvPr id="14" name="Oval 13"/>
          <p:cNvSpPr/>
          <p:nvPr/>
        </p:nvSpPr>
        <p:spPr>
          <a:xfrm>
            <a:off x="11686032" y="487375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75488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💾 ההעדפות נשמרות בין פתיחות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5468112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924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📲 iOS, Android, Web — אותה חוויה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8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4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FFFFFF"/>
                </a:solidFill>
              </a:rPr>
              <a:t>🏪 פורטל בעל העסק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0">
                <a:solidFill>
                  <a:srgbClr val="FFFFFF"/>
                </a:solidFill>
              </a:rPr>
              <a:t>מלוח הבקרה ועד לפיד — הכל בלחיצה אחת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77240"/>
            <a:ext cx="5303520" cy="5120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530352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6-qr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303520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0" y="594360"/>
            <a:ext cx="822960" cy="256032"/>
          </a:xfrm>
          <a:prstGeom prst="ellipse">
            <a:avLst/>
          </a:prstGeom>
          <a:solidFill>
            <a:srgbClr val="E6E4FD"/>
          </a:solidFill>
          <a:ln w="9525">
            <a:solidFill>
              <a:srgbClr val="5B4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5B4CF5"/>
                </a:solidFill>
              </a:rPr>
              <a:t>עסק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1E293B"/>
                </a:solidFill>
              </a:rPr>
              <a:t>9. הקמה תוך 5 דקות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2872" y="2057400"/>
            <a:ext cx="2651760" cy="36576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64748B"/>
                </a:solidFill>
              </a:rPr>
              <a:t>נרשמים עם אימייל, יוצרים פרופיל עסק, וקוד QR מוכן לסריקה — הכל בפחות מ-5 דקות.</a:t>
            </a:r>
          </a:p>
        </p:txBody>
      </p:sp>
      <p:sp>
        <p:nvSpPr>
          <p:cNvPr id="11" name="Oval 10"/>
          <p:cNvSpPr/>
          <p:nvPr/>
        </p:nvSpPr>
        <p:spPr>
          <a:xfrm>
            <a:off x="11731752" y="363931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⚡ הרשמה → קוד QR מוכן ב-5 דקות</a:t>
            </a:r>
          </a:p>
        </p:txBody>
      </p:sp>
      <p:sp>
        <p:nvSpPr>
          <p:cNvPr id="13" name="Oval 12"/>
          <p:cNvSpPr/>
          <p:nvPr/>
        </p:nvSpPr>
        <p:spPr>
          <a:xfrm>
            <a:off x="11731752" y="423367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🖼 לוגו + תמונת כיסוי + שעות פתיחה</a:t>
            </a:r>
          </a:p>
        </p:txBody>
      </p:sp>
      <p:sp>
        <p:nvSpPr>
          <p:cNvPr id="15" name="Oval 14"/>
          <p:cNvSpPr/>
          <p:nvPr/>
        </p:nvSpPr>
        <p:spPr>
          <a:xfrm>
            <a:off x="11731752" y="482803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70916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🏢 ריבוי סניפים — קוד QR נפרד לכל סניף</a:t>
            </a:r>
          </a:p>
        </p:txBody>
      </p:sp>
      <p:sp>
        <p:nvSpPr>
          <p:cNvPr id="17" name="Oval 16"/>
          <p:cNvSpPr/>
          <p:nvPr/>
        </p:nvSpPr>
        <p:spPr>
          <a:xfrm>
            <a:off x="11731752" y="542239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🌙 מצב כהה + עברית בפורטל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9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77240"/>
            <a:ext cx="5303520" cy="5120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530352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3-stamps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303520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0" y="594360"/>
            <a:ext cx="822960" cy="256032"/>
          </a:xfrm>
          <a:prstGeom prst="ellipse">
            <a:avLst/>
          </a:prstGeom>
          <a:solidFill>
            <a:srgbClr val="E6E4FD"/>
          </a:solidFill>
          <a:ln w="9525">
            <a:solidFill>
              <a:srgbClr val="5B4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5B4CF5"/>
                </a:solidFill>
              </a:rPr>
              <a:t>עסק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1E293B"/>
                </a:solidFill>
              </a:rPr>
              <a:t>10. ניהול מבצעים | חותמות | נקודות | דרגות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2872" y="2057400"/>
            <a:ext cx="2651760" cy="36576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64748B"/>
                </a:solidFill>
              </a:rPr>
              <a:t>כל מנגנוני הנאמנות במקום אחד — כולל כרטיסיות חותמות, תוכנית נקודות ודרגות.</a:t>
            </a:r>
          </a:p>
        </p:txBody>
      </p:sp>
      <p:sp>
        <p:nvSpPr>
          <p:cNvPr id="11" name="Oval 10"/>
          <p:cNvSpPr/>
          <p:nvPr/>
        </p:nvSpPr>
        <p:spPr>
          <a:xfrm>
            <a:off x="11731752" y="363931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🎁 מבצעים: הנחה / קרדיט / פריט חינמי</a:t>
            </a:r>
          </a:p>
        </p:txBody>
      </p:sp>
      <p:sp>
        <p:nvSpPr>
          <p:cNvPr id="13" name="Oval 12"/>
          <p:cNvSpPr/>
          <p:nvPr/>
        </p:nvSpPr>
        <p:spPr>
          <a:xfrm>
            <a:off x="11731752" y="423367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🥇 כרטיסיות חותמות + הוספת חותמת מהפורטל</a:t>
            </a:r>
          </a:p>
        </p:txBody>
      </p:sp>
      <p:sp>
        <p:nvSpPr>
          <p:cNvPr id="15" name="Oval 14"/>
          <p:cNvSpPr/>
          <p:nvPr/>
        </p:nvSpPr>
        <p:spPr>
          <a:xfrm>
            <a:off x="11731752" y="482803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70916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⭐ תוכנית נקודות עם פרסים מוגדרים</a:t>
            </a:r>
          </a:p>
        </p:txBody>
      </p:sp>
      <p:sp>
        <p:nvSpPr>
          <p:cNvPr id="17" name="Oval 16"/>
          <p:cNvSpPr/>
          <p:nvPr/>
        </p:nvSpPr>
        <p:spPr>
          <a:xfrm>
            <a:off x="11731752" y="542239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🏅 דרגות — סף מוגדר על ידי בעל העסק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10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77240"/>
            <a:ext cx="5303520" cy="5120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530352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4-feed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303520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0" y="594360"/>
            <a:ext cx="822960" cy="256032"/>
          </a:xfrm>
          <a:prstGeom prst="ellipse">
            <a:avLst/>
          </a:prstGeom>
          <a:solidFill>
            <a:srgbClr val="E6E4FD"/>
          </a:solidFill>
          <a:ln w="9525">
            <a:solidFill>
              <a:srgbClr val="5B4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5B4CF5"/>
                </a:solidFill>
              </a:rPr>
              <a:t>עסק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1E293B"/>
                </a:solidFill>
              </a:rPr>
              <a:t>11. פיד פוסטים — WhatsApp לעסק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2872" y="2057400"/>
            <a:ext cx="2651760" cy="36576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64748B"/>
                </a:solidFill>
              </a:rPr>
              <a:t>יצירה, עריכה ומחיקה של פוסטים שיופיעו בארנק הלקוח. הכל בממשק פשוט.</a:t>
            </a:r>
          </a:p>
        </p:txBody>
      </p:sp>
      <p:sp>
        <p:nvSpPr>
          <p:cNvPr id="11" name="Oval 10"/>
          <p:cNvSpPr/>
          <p:nvPr/>
        </p:nvSpPr>
        <p:spPr>
          <a:xfrm>
            <a:off x="11731752" y="363931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📣 4 סוגי פוסטים עם צבע ייעודי</a:t>
            </a:r>
          </a:p>
        </p:txBody>
      </p:sp>
      <p:sp>
        <p:nvSpPr>
          <p:cNvPr id="13" name="Oval 12"/>
          <p:cNvSpPr/>
          <p:nvPr/>
        </p:nvSpPr>
        <p:spPr>
          <a:xfrm>
            <a:off x="11731752" y="423367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🖼 תמונה + כפתור CTA + תאריך תפוגה</a:t>
            </a:r>
          </a:p>
        </p:txBody>
      </p:sp>
      <p:sp>
        <p:nvSpPr>
          <p:cNvPr id="15" name="Oval 14"/>
          <p:cNvSpPr/>
          <p:nvPr/>
        </p:nvSpPr>
        <p:spPr>
          <a:xfrm>
            <a:off x="11731752" y="482803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70916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✏️ עריכה ומחיקה בכל עת</a:t>
            </a:r>
          </a:p>
        </p:txBody>
      </p:sp>
      <p:sp>
        <p:nvSpPr>
          <p:cNvPr id="17" name="Oval 16"/>
          <p:cNvSpPr/>
          <p:nvPr/>
        </p:nvSpPr>
        <p:spPr>
          <a:xfrm>
            <a:off x="11731752" y="542239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🔄 פוסט חדש מופיע בארנק הלקוח מיידית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77240"/>
            <a:ext cx="5303520" cy="5120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530352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2-members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303520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0" y="594360"/>
            <a:ext cx="822960" cy="256032"/>
          </a:xfrm>
          <a:prstGeom prst="ellipse">
            <a:avLst/>
          </a:prstGeom>
          <a:solidFill>
            <a:srgbClr val="E6E4FD"/>
          </a:solidFill>
          <a:ln w="9525">
            <a:solidFill>
              <a:srgbClr val="5B4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5B4CF5"/>
                </a:solidFill>
              </a:rPr>
              <a:t>עסק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1E293B"/>
                </a:solidFill>
              </a:rPr>
              <a:t>12. חברים + מימוש מהפורטל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2872" y="2057400"/>
            <a:ext cx="2651760" cy="36576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64748B"/>
                </a:solidFill>
              </a:rPr>
              <a:t>רשימת חברים מלאה, לחיצה לפרטים, היסטוריית הטבות — ואישור מימוש ישירות מהפורטל.</a:t>
            </a:r>
          </a:p>
        </p:txBody>
      </p:sp>
      <p:sp>
        <p:nvSpPr>
          <p:cNvPr id="11" name="Oval 10"/>
          <p:cNvSpPr/>
          <p:nvPr/>
        </p:nvSpPr>
        <p:spPr>
          <a:xfrm>
            <a:off x="11731752" y="363931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👥 רשימה: שם, טלפון, תאריך הצטרפות</a:t>
            </a:r>
          </a:p>
        </p:txBody>
      </p:sp>
      <p:sp>
        <p:nvSpPr>
          <p:cNvPr id="13" name="Oval 12"/>
          <p:cNvSpPr/>
          <p:nvPr/>
        </p:nvSpPr>
        <p:spPr>
          <a:xfrm>
            <a:off x="11731752" y="423367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🔍 לחיצה → היסטוריית הטבות מלאה</a:t>
            </a:r>
          </a:p>
        </p:txBody>
      </p:sp>
      <p:sp>
        <p:nvSpPr>
          <p:cNvPr id="15" name="Oval 14"/>
          <p:cNvSpPr/>
          <p:nvPr/>
        </p:nvSpPr>
        <p:spPr>
          <a:xfrm>
            <a:off x="11731752" y="482803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70916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✓ מימוש הטבה ישירות מהפורטל</a:t>
            </a:r>
          </a:p>
        </p:txBody>
      </p:sp>
      <p:sp>
        <p:nvSpPr>
          <p:cNvPr id="17" name="Oval 16"/>
          <p:cNvSpPr/>
          <p:nvPr/>
        </p:nvSpPr>
        <p:spPr>
          <a:xfrm>
            <a:off x="11731752" y="542239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🔄 סנכרון בזמן אמת עם ארנק הלקוח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12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77240"/>
            <a:ext cx="5303520" cy="5120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530352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2-members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303520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0" y="594360"/>
            <a:ext cx="822960" cy="256032"/>
          </a:xfrm>
          <a:prstGeom prst="ellipse">
            <a:avLst/>
          </a:prstGeom>
          <a:solidFill>
            <a:srgbClr val="E6E4FD"/>
          </a:solidFill>
          <a:ln w="9525">
            <a:solidFill>
              <a:srgbClr val="5B4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5B4CF5"/>
                </a:solidFill>
              </a:rPr>
              <a:t>עסק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1E293B"/>
                </a:solidFill>
              </a:rPr>
              <a:t>13. התראות ממוקדות + ייצוא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2872" y="2057400"/>
            <a:ext cx="2651760" cy="36576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64748B"/>
                </a:solidFill>
              </a:rPr>
              <a:t>שלח Push לקהל הנכון: חדשים / פעילים / לא פעילים. מנגנון מעורבות מחדש אוטומטי.</a:t>
            </a:r>
          </a:p>
        </p:txBody>
      </p:sp>
      <p:sp>
        <p:nvSpPr>
          <p:cNvPr id="11" name="Oval 10"/>
          <p:cNvSpPr/>
          <p:nvPr/>
        </p:nvSpPr>
        <p:spPr>
          <a:xfrm>
            <a:off x="11731752" y="363931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📣 4 קהלים: הכל / חדשים / פעילים / לא פעילים</a:t>
            </a:r>
          </a:p>
        </p:txBody>
      </p:sp>
      <p:sp>
        <p:nvSpPr>
          <p:cNvPr id="13" name="Oval 12"/>
          <p:cNvSpPr/>
          <p:nvPr/>
        </p:nvSpPr>
        <p:spPr>
          <a:xfrm>
            <a:off x="11731752" y="423367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🤖 מעורבות מחדש — Push אוטומטי אחרי 30 יום</a:t>
            </a:r>
          </a:p>
        </p:txBody>
      </p:sp>
      <p:sp>
        <p:nvSpPr>
          <p:cNvPr id="15" name="Oval 14"/>
          <p:cNvSpPr/>
          <p:nvPr/>
        </p:nvSpPr>
        <p:spPr>
          <a:xfrm>
            <a:off x="11731752" y="482803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70916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🎂 פרס יום הולדת אוטומטי</a:t>
            </a:r>
          </a:p>
        </p:txBody>
      </p:sp>
      <p:sp>
        <p:nvSpPr>
          <p:cNvPr id="17" name="Oval 16"/>
          <p:cNvSpPr/>
          <p:nvPr/>
        </p:nvSpPr>
        <p:spPr>
          <a:xfrm>
            <a:off x="11731752" y="542239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⬇️ ייצוא CSV: חברים + היסטוריית הטבות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13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77240"/>
            <a:ext cx="5303520" cy="5120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530352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1-dashboard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303520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0" y="594360"/>
            <a:ext cx="822960" cy="256032"/>
          </a:xfrm>
          <a:prstGeom prst="ellipse">
            <a:avLst/>
          </a:prstGeom>
          <a:solidFill>
            <a:srgbClr val="E6E4FD"/>
          </a:solidFill>
          <a:ln w="9525">
            <a:solidFill>
              <a:srgbClr val="5B4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5B4CF5"/>
                </a:solidFill>
              </a:rPr>
              <a:t>עסק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1E293B"/>
                </a:solidFill>
              </a:rPr>
              <a:t>14. לוח בקרה + ניתוח נתונים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2872" y="2057400"/>
            <a:ext cx="2651760" cy="36576"/>
          </a:xfrm>
          <a:prstGeom prst="rect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64748B"/>
                </a:solidFill>
              </a:rPr>
              <a:t>4 מדדים בזמן אמת, גרפי מגמות ל-30 ימים, וייצוא מלא של כל פעילות ההטבות.</a:t>
            </a:r>
          </a:p>
        </p:txBody>
      </p:sp>
      <p:sp>
        <p:nvSpPr>
          <p:cNvPr id="11" name="Oval 10"/>
          <p:cNvSpPr/>
          <p:nvPr/>
        </p:nvSpPr>
        <p:spPr>
          <a:xfrm>
            <a:off x="11731752" y="363931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📊 גידול חברים + מימושים יומיים — 30 יום</a:t>
            </a:r>
          </a:p>
        </p:txBody>
      </p:sp>
      <p:sp>
        <p:nvSpPr>
          <p:cNvPr id="13" name="Oval 12"/>
          <p:cNvSpPr/>
          <p:nvPr/>
        </p:nvSpPr>
        <p:spPr>
          <a:xfrm>
            <a:off x="11731752" y="423367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💡 טיפ חכם לפי נתוני העסק</a:t>
            </a:r>
          </a:p>
        </p:txBody>
      </p:sp>
      <p:sp>
        <p:nvSpPr>
          <p:cNvPr id="15" name="Oval 14"/>
          <p:cNvSpPr/>
          <p:nvPr/>
        </p:nvSpPr>
        <p:spPr>
          <a:xfrm>
            <a:off x="11731752" y="482803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70916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⬇️ ייצוא: כל הטבה עם שם, סוג, ערך, מקור</a:t>
            </a:r>
          </a:p>
        </p:txBody>
      </p:sp>
      <p:sp>
        <p:nvSpPr>
          <p:cNvPr id="17" name="Oval 16"/>
          <p:cNvSpPr/>
          <p:nvPr/>
        </p:nvSpPr>
        <p:spPr>
          <a:xfrm>
            <a:off x="11731752" y="5422392"/>
            <a:ext cx="109728" cy="109728"/>
          </a:xfrm>
          <a:prstGeom prst="ellipse">
            <a:avLst/>
          </a:prstGeom>
          <a:solidFill>
            <a:srgbClr val="5B4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🔄 נתונים בזמן אמת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14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FFFFFF"/>
                </a:solidFill>
              </a:rPr>
              <a:t>🏢 לקוח העוגן — פלטפורמת הדאטה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0">
                <a:solidFill>
                  <a:srgbClr val="FFFFFF"/>
                </a:solidFill>
              </a:rPr>
              <a:t>נתוני פלטפורמה בזמן אמת לרשת קמעונאות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77240"/>
            <a:ext cx="5303520" cy="5120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530352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5-anchor-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303520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0" y="594360"/>
            <a:ext cx="822960" cy="256032"/>
          </a:xfrm>
          <a:prstGeom prst="ellipse">
            <a:avLst/>
          </a:prstGeom>
          <a:solidFill>
            <a:srgbClr val="FDF0D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F59E0B"/>
                </a:solidFill>
              </a:rPr>
              <a:t>עוגן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1E293B"/>
                </a:solidFill>
              </a:rPr>
              <a:t>15. לוח בקרה של לקוח העוגן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2872" y="2057400"/>
            <a:ext cx="2651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64748B"/>
                </a:solidFill>
              </a:rPr>
              <a:t>הרשת הגדולה מקבלת גישה לנתונים מצרפיים — כלל המשתמשים, עסקים, הטבות ומגמות — בזמן אמת.</a:t>
            </a:r>
          </a:p>
        </p:txBody>
      </p:sp>
      <p:sp>
        <p:nvSpPr>
          <p:cNvPr id="11" name="Oval 10"/>
          <p:cNvSpPr/>
          <p:nvPr/>
        </p:nvSpPr>
        <p:spPr>
          <a:xfrm>
            <a:off x="11731752" y="36393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🏢 כלל העסקים + כלל המשתמשים בפלטפורמה</a:t>
            </a:r>
          </a:p>
        </p:txBody>
      </p:sp>
      <p:sp>
        <p:nvSpPr>
          <p:cNvPr id="13" name="Oval 12"/>
          <p:cNvSpPr/>
          <p:nvPr/>
        </p:nvSpPr>
        <p:spPr>
          <a:xfrm>
            <a:off x="11731752" y="423367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📊 גרפי גידול משתמשים וחברויות — 30 יום</a:t>
            </a:r>
          </a:p>
        </p:txBody>
      </p:sp>
      <p:sp>
        <p:nvSpPr>
          <p:cNvPr id="15" name="Oval 14"/>
          <p:cNvSpPr/>
          <p:nvPr/>
        </p:nvSpPr>
        <p:spPr>
          <a:xfrm>
            <a:off x="11731752" y="48280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70916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🏆 10 עסקים מובילים לפי חברים + שיעור מימוש</a:t>
            </a:r>
          </a:p>
        </p:txBody>
      </p:sp>
      <p:sp>
        <p:nvSpPr>
          <p:cNvPr id="17" name="Oval 16"/>
          <p:cNvSpPr/>
          <p:nvPr/>
        </p:nvSpPr>
        <p:spPr>
          <a:xfrm>
            <a:off x="11731752" y="542239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293B"/>
                </a:solidFill>
              </a:rPr>
              <a:t>💡 הדאטה יושב אצלנו — הרשת מקבלת תובנות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15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FFFFFF"/>
                </a:solidFill>
              </a:rPr>
              <a:t>🚀 אסטרטגיה ו-GTM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0">
                <a:solidFill>
                  <a:srgbClr val="FFFFFF"/>
                </a:solidFill>
              </a:rPr>
              <a:t>כיצד מייצרים טראפיק ממאות אלפי משתמשים ביום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594360"/>
            <a:ext cx="822960" cy="256032"/>
          </a:xfrm>
          <a:prstGeom prst="ellipse">
            <a:avLst/>
          </a:prstGeom>
          <a:solidFill>
            <a:srgbClr val="FCE3EF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EC4899"/>
                </a:solidFill>
              </a:rPr>
              <a:t>אסטרטגיה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1E293B"/>
                </a:solidFill>
              </a:rPr>
              <a:t>16. פתרון הביצה והתרנגולת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4152" y="2057400"/>
            <a:ext cx="384048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64748B"/>
                </a:solidFill>
              </a:rPr>
              <a:t>בשביל טראפיק צריך עסקים. בשביל עסקים צריך טראפיק. הפתרון: לקוח עוגן שמביא את שניהם.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356616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675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🏪 רשת קמעונאות גדולה מקבלת מערכת דאטה מתקדמת — בחינם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356616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675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📊 הדאטה נמצא בשרתים שלנו — אנחנו שולטים בנרטיב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4370832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📱 המשתמשים של הרשת → בסיס הטראפיק של הפלטפורמה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370832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🤝 הרשת מקבלת אחוזים — שיתוף פעולה אסטרטגי עמוק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16 /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594360"/>
            <a:ext cx="822960" cy="256032"/>
          </a:xfrm>
          <a:prstGeom prst="ellipse">
            <a:avLst/>
          </a:prstGeom>
          <a:solidFill>
            <a:srgbClr val="FCE3EF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EC4899"/>
                </a:solidFill>
              </a:rPr>
              <a:t>אסטרטגיה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1E293B"/>
                </a:solidFill>
              </a:rPr>
              <a:t>17. זרימת משתמש — אפס חיכוך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4152" y="2057400"/>
            <a:ext cx="384048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64748B"/>
                </a:solidFill>
              </a:rPr>
              <a:t>הלקוח סורק QR בחנות → מצטרף → קבלות והטבות נוחתות בארנק. ללא הורדת אפליקציה.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356616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675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1️⃣ סריקת QR עם מצלמה רגילה — לא צריך אפליקציית סריקה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356616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675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2️⃣ הרשמה: מספר טלפון + OTP — 30 שניות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4370832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3️⃣ הטבת קבלת פנים נוחתת בארנק — אם בעל העסק הגדיר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370832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4️⃣ כל ביקור עתידי — חותמות/נקודות אוטומטיים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17 / 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FFFFFF"/>
                </a:solidFill>
              </a:rPr>
              <a:t>📋 צעדים הבאים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0">
                <a:solidFill>
                  <a:srgbClr val="FFFFFF"/>
                </a:solidFill>
              </a:rPr>
              <a:t>מהדמו להשקה מסחרית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הבא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1E293B"/>
                </a:solidFill>
              </a:rPr>
              <a:t>18. מוכן לדמו — מה בונים הבא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4152" y="2057400"/>
            <a:ext cx="38404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64748B"/>
                </a:solidFill>
              </a:rPr>
              <a:t>הפלטפורמה מוכנה לדמו מלא. אלה הצעדים לפני השקה מסחרית.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356616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675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✅ ארנק לקוח + פורטל עסק + לוח בקרה עוגן — מוכנים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356616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675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🚀 פרסום App Store + Google Play (EAS Build)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4370832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⏳ אינטגרציית POS — API לחיבור מערכות קופה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370832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⏳ AI אנליטיקה — מסעות פרסום חכמים מבוססי דאטה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18 /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594360"/>
            <a:ext cx="822960" cy="256032"/>
          </a:xfrm>
          <a:prstGeom prst="ellipse">
            <a:avLst/>
          </a:prstGeom>
          <a:solidFill>
            <a:srgbClr val="DFF7E9"/>
          </a:solidFill>
          <a:ln w="952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126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2ECC71"/>
                </a:solidFill>
              </a:rPr>
              <a:t>רודמפ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1E293B"/>
                </a:solidFill>
              </a:rPr>
              <a:t>19. רודמפ — רבעון קרוב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4152" y="2057400"/>
            <a:ext cx="38404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64748B"/>
                </a:solidFill>
              </a:rPr>
              <a:t>סדר הפעולות לבניית המוצר המסחרי המלא.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356616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675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1️⃣ הפקה ל-App Store + Google 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356616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675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2️⃣ העלאה ל-Supabase Cloud + Vercel (Production)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4370832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3️⃣ Pilot עם לקוח עוגן ראשון — רשת קמעונאות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370832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E293B"/>
                </a:solidFill>
              </a:rPr>
              <a:t>4️⃣ אינטגרציית POS + קבלות דיגיטליות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19 / 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21945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 i="0">
                <a:solidFill>
                  <a:srgbClr val="FFFFFF"/>
                </a:solidFill>
              </a:rPr>
              <a:t>קלאבי — הנאמנות שמגיעה לכל לקוח</a:t>
            </a:r>
          </a:p>
        </p:txBody>
      </p:sp>
      <p:sp>
        <p:nvSpPr>
          <p:cNvPr id="5" name="Rectangle 4"/>
          <p:cNvSpPr/>
          <p:nvPr/>
        </p:nvSpPr>
        <p:spPr>
          <a:xfrm>
            <a:off x="8988552" y="3291840"/>
            <a:ext cx="29260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94A3B8"/>
                </a:solidFill>
              </a:rPr>
              <a:t>מהסריקה הראשונה ועד לניתוח הדאטה — פלטפורמה אחת, ערך לכולם.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80560"/>
            <a:ext cx="12188952" cy="1920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94A3B8"/>
                </a:solidFill>
              </a:rPr>
              <a:t>📱 לקוח — ארנק דיגיטלי חינמי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663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94A3B8"/>
                </a:solidFill>
              </a:rPr>
              <a:t>💼 עסק — פורטל ניהול מלא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663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94A3B8"/>
                </a:solidFill>
              </a:rPr>
              <a:t>🏢 רשת — תובנות דאטה אסטרטגיות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